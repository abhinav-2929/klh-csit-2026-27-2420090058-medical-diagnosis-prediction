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9" r:id="rId5"/>
    <p:sldId id="259" r:id="rId6"/>
    <p:sldId id="260" r:id="rId7"/>
    <p:sldId id="27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E875A1-A136-1E7B-F3E0-24DC0FAE6CDE}" v="507" dt="2026-09-19T05:53:36.6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5637" y="2519362"/>
            <a:ext cx="12134272" cy="4812146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 err="1">
                <a:ea typeface="+mj-lt"/>
                <a:cs typeface="+mj-lt"/>
              </a:rPr>
              <a:t>MedExplain</a:t>
            </a:r>
            <a:r>
              <a:rPr lang="en-US" sz="4000" dirty="0">
                <a:ea typeface="+mj-lt"/>
                <a:cs typeface="+mj-lt"/>
              </a:rPr>
              <a:t> – Explainable Machine Learning Framework for Clinical Diagnosis Prediction</a:t>
            </a:r>
            <a:br>
              <a:rPr lang="en-US" sz="4000" dirty="0">
                <a:ea typeface="+mj-lt"/>
                <a:cs typeface="+mj-lt"/>
              </a:rPr>
            </a:br>
            <a:br>
              <a:rPr lang="en-US" sz="4000" dirty="0">
                <a:ea typeface="+mj-lt"/>
                <a:cs typeface="+mj-lt"/>
              </a:rPr>
            </a:br>
            <a:r>
              <a:rPr lang="en-US" sz="4000" dirty="0">
                <a:ea typeface="+mj-lt"/>
                <a:cs typeface="+mj-lt"/>
              </a:rPr>
              <a:t>                                                                    </a:t>
            </a:r>
            <a:r>
              <a:rPr lang="en-US" sz="3600" dirty="0">
                <a:ea typeface="+mj-lt"/>
                <a:cs typeface="+mj-lt"/>
              </a:rPr>
              <a:t>Saraf Abhinav – 2420090058</a:t>
            </a:r>
            <a:br>
              <a:rPr lang="en-US" sz="3600" dirty="0">
                <a:ea typeface="+mj-lt"/>
                <a:cs typeface="+mj-lt"/>
              </a:rPr>
            </a:br>
            <a:r>
              <a:rPr lang="en-US" sz="3600" dirty="0">
                <a:ea typeface="+mj-lt"/>
                <a:cs typeface="+mj-lt"/>
              </a:rPr>
              <a:t>                                                                            Jai Vardhan – 2420090104</a:t>
            </a:r>
            <a:br>
              <a:rPr lang="en-US" sz="3600" dirty="0">
                <a:ea typeface="+mj-lt"/>
                <a:cs typeface="+mj-lt"/>
              </a:rPr>
            </a:br>
            <a:r>
              <a:rPr lang="en-US" sz="3600" dirty="0">
                <a:ea typeface="+mj-lt"/>
                <a:cs typeface="+mj-lt"/>
              </a:rPr>
              <a:t>                                                                            Srimaan – 2420030418</a:t>
            </a:r>
            <a:br>
              <a:rPr lang="en-US" sz="3600" dirty="0">
                <a:ea typeface="+mj-lt"/>
                <a:cs typeface="+mj-lt"/>
              </a:rPr>
            </a:br>
            <a:r>
              <a:rPr lang="en-US" sz="3600" dirty="0">
                <a:ea typeface="+mj-lt"/>
                <a:cs typeface="+mj-lt"/>
              </a:rPr>
              <a:t>                                                                            Ananya - 2420030776</a:t>
            </a:r>
            <a:br>
              <a:rPr lang="en-US" sz="3600" dirty="0">
                <a:ea typeface="+mj-lt"/>
                <a:cs typeface="+mj-lt"/>
              </a:rPr>
            </a:br>
            <a:br>
              <a:rPr lang="en-US" sz="4000" dirty="0">
                <a:ea typeface="+mj-lt"/>
                <a:cs typeface="+mj-lt"/>
              </a:rPr>
            </a:br>
            <a:br>
              <a:rPr lang="en-US" sz="4000" dirty="0">
                <a:ea typeface="+mj-lt"/>
                <a:cs typeface="+mj-lt"/>
              </a:rPr>
            </a:br>
            <a:br>
              <a:rPr lang="en-US" sz="4000" dirty="0">
                <a:ea typeface="+mj-lt"/>
                <a:cs typeface="+mj-lt"/>
              </a:rPr>
            </a:br>
            <a:br>
              <a:rPr lang="en-US" sz="4000" dirty="0"/>
            </a:br>
            <a:br>
              <a:rPr lang="en-US" sz="4000" dirty="0"/>
            </a:b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86D78-E8D2-9812-8764-A749B23B6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Methodology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E9AFB-AEE9-2D91-D14E-CCC5A8D49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6229"/>
            <a:ext cx="10515600" cy="4351338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buNone/>
            </a:pP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Data Collection:</a:t>
            </a:r>
            <a:r>
              <a:rPr lang="en-US" dirty="0">
                <a:ea typeface="+mn-lt"/>
                <a:cs typeface="+mn-lt"/>
              </a:rPr>
              <a:t> Used three benchmark medical datasets covering cardiovascular, metabolic, and oncology diseases.</a:t>
            </a:r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Preprocessing:</a:t>
            </a:r>
            <a:r>
              <a:rPr lang="en-US" dirty="0">
                <a:ea typeface="+mn-lt"/>
                <a:cs typeface="+mn-lt"/>
              </a:rPr>
              <a:t> Applied MICE imputation, outlier capping, robust scaling, and duplicate handling.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Class Balancing:</a:t>
            </a:r>
            <a:r>
              <a:rPr lang="en-US" dirty="0">
                <a:ea typeface="+mn-lt"/>
                <a:cs typeface="+mn-lt"/>
              </a:rPr>
              <a:t> SMOTE-Tomek was applied only within training folds to reduce class imbalance.</a:t>
            </a:r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Model Development:</a:t>
            </a:r>
            <a:r>
              <a:rPr lang="en-US" dirty="0">
                <a:ea typeface="+mn-lt"/>
                <a:cs typeface="+mn-lt"/>
              </a:rPr>
              <a:t> Trained Logistic Regression, Decision Tree, Random Forest, </a:t>
            </a:r>
            <a:r>
              <a:rPr lang="en-US" dirty="0" err="1">
                <a:ea typeface="+mn-lt"/>
                <a:cs typeface="+mn-lt"/>
              </a:rPr>
              <a:t>XGBoost</a:t>
            </a:r>
            <a:r>
              <a:rPr lang="en-US" dirty="0">
                <a:ea typeface="+mn-lt"/>
                <a:cs typeface="+mn-lt"/>
              </a:rPr>
              <a:t>, and </a:t>
            </a:r>
            <a:r>
              <a:rPr lang="en-US" dirty="0" err="1">
                <a:ea typeface="+mn-lt"/>
                <a:cs typeface="+mn-lt"/>
              </a:rPr>
              <a:t>CatBoost</a:t>
            </a:r>
            <a:r>
              <a:rPr lang="en-US" dirty="0">
                <a:ea typeface="+mn-lt"/>
                <a:cs typeface="+mn-lt"/>
              </a:rPr>
              <a:t> models.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Evaluation:</a:t>
            </a:r>
            <a:r>
              <a:rPr lang="en-US" dirty="0">
                <a:ea typeface="+mn-lt"/>
                <a:cs typeface="+mn-lt"/>
              </a:rPr>
              <a:t> Used stratified 5-fold cross-validation with Accuracy, Precision, Recall, F1-score, and ROC-AUC.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Explainability:</a:t>
            </a:r>
            <a:r>
              <a:rPr lang="en-US" dirty="0">
                <a:ea typeface="+mn-lt"/>
                <a:cs typeface="+mn-lt"/>
              </a:rPr>
              <a:t> Applied SHAP for global and local feature importance and LIME for patient-level explanations.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Deployment:</a:t>
            </a:r>
            <a:r>
              <a:rPr lang="en-US" dirty="0">
                <a:ea typeface="+mn-lt"/>
                <a:cs typeface="+mn-lt"/>
              </a:rPr>
              <a:t> Integrated the best-performing models into an interactive </a:t>
            </a:r>
            <a:r>
              <a:rPr lang="en-US" dirty="0" err="1">
                <a:ea typeface="+mn-lt"/>
                <a:cs typeface="+mn-lt"/>
              </a:rPr>
              <a:t>Streamlit</a:t>
            </a:r>
            <a:r>
              <a:rPr lang="en-US" dirty="0">
                <a:ea typeface="+mn-lt"/>
                <a:cs typeface="+mn-lt"/>
              </a:rPr>
              <a:t> clinical decision-support dashboard.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477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351EF-C976-4025-8EA6-37D39C63D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System Design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80A10-EA39-E958-FBF4-028AD3796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181" y="1523701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dirty="0"/>
              <a:t>System Design</a:t>
            </a:r>
          </a:p>
          <a:p>
            <a:pPr>
              <a:buNone/>
            </a:pPr>
            <a:r>
              <a:rPr lang="en-US" sz="2400" b="1" dirty="0">
                <a:ea typeface="+mn-lt"/>
                <a:cs typeface="+mn-lt"/>
              </a:rPr>
              <a:t>Input Layer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Patient demographic and clinical information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Disease-specific medical parameters</a:t>
            </a:r>
            <a:endParaRPr lang="en-US" dirty="0"/>
          </a:p>
          <a:p>
            <a:pPr indent="0">
              <a:buNone/>
            </a:pPr>
            <a:r>
              <a:rPr lang="en-US" sz="2400" dirty="0">
                <a:ea typeface="+mn-lt"/>
                <a:cs typeface="+mn-lt"/>
              </a:rPr>
              <a:t>↓</a:t>
            </a:r>
            <a:endParaRPr lang="en-US" dirty="0"/>
          </a:p>
          <a:p>
            <a:pPr>
              <a:buNone/>
            </a:pPr>
            <a:r>
              <a:rPr lang="en-US" sz="2400" b="1" dirty="0">
                <a:ea typeface="+mn-lt"/>
                <a:cs typeface="+mn-lt"/>
              </a:rPr>
              <a:t>Data Processing Layer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Missing-value handling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Outlier treatment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Feature scaling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Class balancing</a:t>
            </a:r>
            <a:endParaRPr lang="en-US" dirty="0"/>
          </a:p>
          <a:p>
            <a:pPr indent="0">
              <a:buNone/>
            </a:pPr>
            <a:r>
              <a:rPr lang="en-US" sz="2400" dirty="0">
                <a:ea typeface="+mn-lt"/>
                <a:cs typeface="+mn-lt"/>
              </a:rPr>
              <a:t>↓</a:t>
            </a:r>
            <a:endParaRPr lang="en-US" dirty="0"/>
          </a:p>
          <a:p>
            <a:pPr>
              <a:buNone/>
            </a:pPr>
            <a:r>
              <a:rPr lang="en-US" sz="2400" b="1" dirty="0">
                <a:ea typeface="+mn-lt"/>
                <a:cs typeface="+mn-lt"/>
              </a:rPr>
              <a:t>Machine Learning Layer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Logistic Regression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Decision Tree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Random Forest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2400" dirty="0" err="1">
                <a:ea typeface="+mn-lt"/>
                <a:cs typeface="+mn-lt"/>
              </a:rPr>
              <a:t>XGBoost</a:t>
            </a:r>
            <a:endParaRPr lang="en-US" dirty="0" err="1"/>
          </a:p>
          <a:p>
            <a:pPr>
              <a:buFont typeface="Arial"/>
              <a:buChar char="•"/>
            </a:pPr>
            <a:r>
              <a:rPr lang="en-US" sz="2400" dirty="0" err="1">
                <a:ea typeface="+mn-lt"/>
                <a:cs typeface="+mn-lt"/>
              </a:rPr>
              <a:t>CatBoost</a:t>
            </a:r>
            <a:endParaRPr lang="en-US" dirty="0" err="1"/>
          </a:p>
          <a:p>
            <a:pPr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556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38BD1-C9F5-8CE7-B022-7DB5D72DD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162" y="459776"/>
            <a:ext cx="10515600" cy="4351338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indent="0">
              <a:buNone/>
            </a:pPr>
            <a:r>
              <a:rPr lang="en-US" sz="2400" dirty="0"/>
              <a:t>↓</a:t>
            </a:r>
          </a:p>
          <a:p>
            <a:pPr>
              <a:buNone/>
            </a:pPr>
            <a:r>
              <a:rPr lang="en-US" sz="2400" b="1" dirty="0"/>
              <a:t>Prediction Layer</a:t>
            </a:r>
            <a:endParaRPr lang="en-US" sz="2400" dirty="0"/>
          </a:p>
          <a:p>
            <a:pPr>
              <a:buFont typeface="Arial,Sans-Serif"/>
              <a:buChar char="•"/>
            </a:pPr>
            <a:r>
              <a:rPr lang="en-US" sz="2400" dirty="0"/>
              <a:t>Disease-risk classification</a:t>
            </a:r>
          </a:p>
          <a:p>
            <a:pPr>
              <a:buFont typeface="Arial,Sans-Serif"/>
              <a:buChar char="•"/>
            </a:pPr>
            <a:r>
              <a:rPr lang="en-US" sz="2400" dirty="0"/>
              <a:t>Confidence/probability score</a:t>
            </a:r>
          </a:p>
          <a:p>
            <a:pPr indent="0">
              <a:buNone/>
            </a:pPr>
            <a:r>
              <a:rPr lang="en-US" sz="2400" dirty="0"/>
              <a:t>↓</a:t>
            </a:r>
          </a:p>
          <a:p>
            <a:pPr>
              <a:buNone/>
            </a:pPr>
            <a:r>
              <a:rPr lang="en-US" sz="2400" b="1" dirty="0"/>
              <a:t>Explainability Layer</a:t>
            </a:r>
            <a:endParaRPr lang="en-US" sz="2400" dirty="0"/>
          </a:p>
          <a:p>
            <a:pPr>
              <a:buFont typeface="Arial,Sans-Serif"/>
              <a:buChar char="•"/>
            </a:pPr>
            <a:r>
              <a:rPr lang="en-US" sz="2400" dirty="0"/>
              <a:t>SHAP global feature importance</a:t>
            </a:r>
          </a:p>
          <a:p>
            <a:pPr>
              <a:buFont typeface="Arial,Sans-Serif"/>
              <a:buChar char="•"/>
            </a:pPr>
            <a:r>
              <a:rPr lang="en-US" sz="2400" dirty="0"/>
              <a:t>SHAP local explanations</a:t>
            </a:r>
          </a:p>
          <a:p>
            <a:pPr>
              <a:buFont typeface="Arial,Sans-Serif"/>
              <a:buChar char="•"/>
            </a:pPr>
            <a:r>
              <a:rPr lang="en-US" sz="2400" dirty="0"/>
              <a:t>LIME patient-level explanations</a:t>
            </a:r>
          </a:p>
          <a:p>
            <a:pPr indent="0">
              <a:buNone/>
            </a:pPr>
            <a:r>
              <a:rPr lang="en-US" sz="2400" dirty="0"/>
              <a:t>↓</a:t>
            </a:r>
          </a:p>
          <a:p>
            <a:pPr>
              <a:buNone/>
            </a:pPr>
            <a:r>
              <a:rPr lang="en-US" sz="2400" b="1" dirty="0"/>
              <a:t>User Interface</a:t>
            </a:r>
            <a:endParaRPr lang="en-US" sz="2400" dirty="0"/>
          </a:p>
          <a:p>
            <a:pPr>
              <a:buFont typeface="Arial,Sans-Serif"/>
              <a:buChar char="•"/>
            </a:pPr>
            <a:r>
              <a:rPr lang="en-US" sz="2400" dirty="0" err="1"/>
              <a:t>Streamlit</a:t>
            </a:r>
            <a:r>
              <a:rPr lang="en-US" sz="2400" dirty="0"/>
              <a:t>-based clinical dashboard</a:t>
            </a:r>
          </a:p>
          <a:p>
            <a:pPr>
              <a:buFont typeface="Arial,Sans-Serif"/>
              <a:buChar char="•"/>
            </a:pPr>
            <a:r>
              <a:rPr lang="en-US" sz="2400" dirty="0"/>
              <a:t>Patient input</a:t>
            </a:r>
          </a:p>
          <a:p>
            <a:pPr>
              <a:buFont typeface="Arial,Sans-Serif"/>
              <a:buChar char="•"/>
            </a:pPr>
            <a:r>
              <a:rPr lang="en-US" sz="2400" dirty="0"/>
              <a:t>Prediction results</a:t>
            </a:r>
          </a:p>
          <a:p>
            <a:pPr>
              <a:buFont typeface="Arial,Sans-Serif"/>
              <a:buChar char="•"/>
            </a:pPr>
            <a:r>
              <a:rPr lang="en-US" sz="2400" dirty="0"/>
              <a:t>Visual explanations</a:t>
            </a:r>
          </a:p>
          <a:p>
            <a:pPr>
              <a:buFont typeface="Arial,Sans-Serif"/>
              <a:buChar char="•"/>
            </a:pPr>
            <a:r>
              <a:rPr lang="en-US" sz="2400" dirty="0"/>
              <a:t>Model comparison</a:t>
            </a:r>
          </a:p>
          <a:p>
            <a:pPr>
              <a:buNone/>
            </a:pP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320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5786C-A290-4E5D-44D3-5F0B381A0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Modern Tools and Technologies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81F2303-CB10-283D-664E-AB744DE754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4189247"/>
              </p:ext>
            </p:extLst>
          </p:nvPr>
        </p:nvGraphicFramePr>
        <p:xfrm>
          <a:off x="838200" y="1825625"/>
          <a:ext cx="10515600" cy="21945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91658073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233331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5919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584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3571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3551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988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845111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9469DBB-E7E8-160F-FD95-D25841FED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6667"/>
              </p:ext>
            </p:extLst>
          </p:nvPr>
        </p:nvGraphicFramePr>
        <p:xfrm>
          <a:off x="833887" y="1704867"/>
          <a:ext cx="12192000" cy="411061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1663905234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44226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Technology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3543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Python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Core development and machine learning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8671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Pandas &amp; NumPy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Data processing and numerical operations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6906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Scikit-learn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ML models, preprocessing and evaluation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2826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/>
                        <a:t>XGBoost</a:t>
                      </a:r>
                      <a:endParaRPr lang="en-US" dirty="0" err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Gradient-boosting classification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1296948"/>
                  </a:ext>
                </a:extLst>
              </a:tr>
              <a:tr h="4530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/>
                        <a:t>CatBoost</a:t>
                      </a:r>
                      <a:endParaRPr lang="en-US" dirty="0" err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Advanced gradient-boosting classification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8398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SHAP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Global and local model explanations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662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LIME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Patient-level local explanations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6812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Imbalanced-learn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SMOTE-Tomek class balancing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886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/>
                        <a:t>Streamlit</a:t>
                      </a:r>
                      <a:endParaRPr lang="en-US" dirty="0" err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Interactive clinical dashboard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27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Matplotlib / Visualization Tools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Charts and performance visualization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987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6937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25B97-D5E2-2F13-45AE-52358313C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Implementation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B101A-C9AD-36D3-4C4E-2EF23A214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buNone/>
            </a:pPr>
            <a:r>
              <a:rPr lang="en-US" b="1" dirty="0">
                <a:ea typeface="+mn-lt"/>
                <a:cs typeface="+mn-lt"/>
              </a:rPr>
              <a:t>Step 1 — Dataset Preparation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Cleveland Heart Disease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Pima Indians Diabetes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Wisconsin Breast Cancer Diagnostic</a:t>
            </a:r>
            <a:endParaRPr lang="en-US" dirty="0"/>
          </a:p>
          <a:p>
            <a:pPr indent="0">
              <a:buNone/>
            </a:pPr>
            <a:r>
              <a:rPr lang="en-US" b="1" dirty="0">
                <a:ea typeface="+mn-lt"/>
                <a:cs typeface="+mn-lt"/>
              </a:rPr>
              <a:t>Step 2 — Data Preprocessing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Missing-value imputation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Outlier capping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Robust feature scaling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Training-fold class balancing</a:t>
            </a:r>
            <a:endParaRPr lang="en-US" dirty="0"/>
          </a:p>
          <a:p>
            <a:pPr indent="0">
              <a:buNone/>
            </a:pPr>
            <a:r>
              <a:rPr lang="en-US" b="1" dirty="0">
                <a:ea typeface="+mn-lt"/>
                <a:cs typeface="+mn-lt"/>
              </a:rPr>
              <a:t>Step 3 — Model Training</a:t>
            </a:r>
            <a:endParaRPr lang="en-US" dirty="0"/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Five classification algorithms trained independently.</a:t>
            </a:r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Stratified 5-fold cross-validation used for reliable evaluation.</a:t>
            </a:r>
          </a:p>
          <a:p>
            <a:pPr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77432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DF091-8803-D178-38D7-E69269A9D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0">
              <a:buNone/>
            </a:pPr>
            <a:r>
              <a:rPr lang="en-US" sz="700" b="1" dirty="0"/>
              <a:t>Step 4 — Explainability</a:t>
            </a:r>
            <a:endParaRPr lang="en-US" sz="700" dirty="0"/>
          </a:p>
          <a:p>
            <a:pPr>
              <a:buFont typeface="Arial"/>
              <a:buChar char="•"/>
            </a:pPr>
            <a:r>
              <a:rPr lang="en-US" sz="700" dirty="0"/>
              <a:t>SHAP identifies important features influencing predictions.</a:t>
            </a:r>
          </a:p>
          <a:p>
            <a:pPr>
              <a:buFont typeface="Arial"/>
              <a:buChar char="•"/>
            </a:pPr>
            <a:r>
              <a:rPr lang="en-US" sz="700" dirty="0"/>
              <a:t>LIME provides individual patient-level explanations.</a:t>
            </a:r>
          </a:p>
          <a:p>
            <a:pPr indent="0">
              <a:buNone/>
            </a:pPr>
            <a:r>
              <a:rPr lang="en-US" sz="700" b="1" dirty="0"/>
              <a:t>Step 5 — Dashboard Development</a:t>
            </a:r>
            <a:endParaRPr lang="en-US" sz="700"/>
          </a:p>
          <a:p>
            <a:pPr>
              <a:buFont typeface="Arial"/>
              <a:buChar char="•"/>
            </a:pPr>
            <a:r>
              <a:rPr lang="en-US" sz="700" dirty="0"/>
              <a:t>Patient data entered through </a:t>
            </a:r>
            <a:r>
              <a:rPr lang="en-US" sz="700" dirty="0" err="1"/>
              <a:t>Streamlit</a:t>
            </a:r>
            <a:r>
              <a:rPr lang="en-US" sz="700" dirty="0"/>
              <a:t>.</a:t>
            </a:r>
          </a:p>
          <a:p>
            <a:pPr>
              <a:buFont typeface="Arial"/>
              <a:buChar char="•"/>
            </a:pPr>
            <a:r>
              <a:rPr lang="en-US" sz="700" dirty="0"/>
              <a:t>Model generates prediction and confidence.</a:t>
            </a:r>
          </a:p>
          <a:p>
            <a:pPr>
              <a:buFont typeface="Arial,Sans-Serif"/>
              <a:buChar char="•"/>
            </a:pPr>
            <a:r>
              <a:rPr lang="en-US" sz="700" dirty="0"/>
              <a:t>SHAP and LIME visualizations explain the result.</a:t>
            </a:r>
          </a:p>
          <a:p>
            <a:pPr>
              <a:buFont typeface="Arial,Sans-Serif"/>
              <a:buChar char="•"/>
            </a:pPr>
            <a:r>
              <a:rPr lang="en-US" sz="700" dirty="0"/>
              <a:t>Model performance can be compared through the dashboard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158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5474E-696F-A18C-C913-6917CC066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Results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BB88E05-309F-EA8B-E510-5F07C564C7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3327039"/>
              </p:ext>
            </p:extLst>
          </p:nvPr>
        </p:nvGraphicFramePr>
        <p:xfrm>
          <a:off x="838200" y="1825625"/>
          <a:ext cx="10515600" cy="1463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63571556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3075375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0409144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147741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50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7844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236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47310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6F8B80B-4F5D-D103-24B2-E788E95F8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352290"/>
              </p:ext>
            </p:extLst>
          </p:nvPr>
        </p:nvGraphicFramePr>
        <p:xfrm>
          <a:off x="158151" y="5141631"/>
          <a:ext cx="12192000" cy="1463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1665365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97147264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15988319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5109777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Disease Domain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Best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ROC-AUC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566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Cardiovascular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CatBoost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/>
                        <a:t>0.932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/>
                        <a:t>0.912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91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Metabolic / Diabetes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CatBoost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/>
                        <a:t>0.884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/>
                        <a:t>0.846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1754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Oncology / Breast Cancer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XGBoost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/>
                        <a:t>0.991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/>
                        <a:t>0.982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500214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5DCF97B-E309-D282-9E8D-75D7EADC89DE}"/>
              </a:ext>
            </a:extLst>
          </p:cNvPr>
          <p:cNvSpPr txBox="1"/>
          <p:nvPr/>
        </p:nvSpPr>
        <p:spPr>
          <a:xfrm>
            <a:off x="833887" y="1459302"/>
            <a:ext cx="6096000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Results</a:t>
            </a:r>
          </a:p>
          <a:p>
            <a:r>
              <a:rPr lang="en-US" dirty="0"/>
              <a:t>The framework achieved strong classification performance across all three medical domains.</a:t>
            </a:r>
          </a:p>
          <a:p>
            <a:r>
              <a:rPr lang="en-US" b="1" dirty="0"/>
              <a:t>Important Predictive Features</a:t>
            </a:r>
          </a:p>
          <a:p>
            <a:pPr marL="228600" indent="-228600">
              <a:buFont typeface=""/>
              <a:buChar char="•"/>
            </a:pPr>
            <a:r>
              <a:rPr lang="en-US" b="1" dirty="0"/>
              <a:t>Heart Disease:</a:t>
            </a:r>
            <a:r>
              <a:rPr lang="en-US" dirty="0"/>
              <a:t> Vessel count (ca), thallium status, ST depression, maximum heart rate</a:t>
            </a:r>
          </a:p>
          <a:p>
            <a:pPr marL="228600" indent="-228600">
              <a:buFont typeface=""/>
              <a:buChar char="•"/>
            </a:pPr>
            <a:r>
              <a:rPr lang="en-US" b="1" dirty="0"/>
              <a:t>Diabetes:</a:t>
            </a:r>
            <a:r>
              <a:rPr lang="en-US" dirty="0"/>
              <a:t> Plasma glucose, BMI, age</a:t>
            </a:r>
          </a:p>
          <a:p>
            <a:pPr marL="228600" indent="-228600">
              <a:buFont typeface=""/>
              <a:buChar char="•"/>
            </a:pPr>
            <a:r>
              <a:rPr lang="en-US" b="1" dirty="0"/>
              <a:t>Breast Cancer:</a:t>
            </a:r>
            <a:r>
              <a:rPr lang="en-US" dirty="0"/>
              <a:t> Concave points, perimeter, and radius — worst measurements</a:t>
            </a:r>
          </a:p>
          <a:p>
            <a:r>
              <a:rPr lang="en-US" dirty="0"/>
              <a:t>The results demonstrate that high predictive performance can be combined with interpretable explanations for clinical decision support.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215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7A2AB03-22CF-8D85-0627-203A23CD84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2715" y="762319"/>
            <a:ext cx="8370454" cy="47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92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8AFDC9-1A0A-D8FC-C455-DDFDAAC49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318" y="646545"/>
            <a:ext cx="9478819" cy="631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521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CA615-1765-43E4-51FB-C383F8A06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Performance Evaluation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D0B12-ABDC-657A-9E82-4C3FA857E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2000" b="1" dirty="0">
                <a:ea typeface="+mn-lt"/>
                <a:cs typeface="+mn-lt"/>
              </a:rPr>
              <a:t>Evaluation Strategy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Stratified </a:t>
            </a:r>
            <a:r>
              <a:rPr lang="en-US" sz="2000" b="1" dirty="0">
                <a:ea typeface="+mn-lt"/>
                <a:cs typeface="+mn-lt"/>
              </a:rPr>
              <a:t>5-fold cross-validation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Accuracy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Precision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Recall / Sensitivity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F1-score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ROC-AUC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Calibration analysis</a:t>
            </a:r>
            <a:endParaRPr lang="en-US" dirty="0"/>
          </a:p>
          <a:p>
            <a:pPr indent="0">
              <a:buNone/>
            </a:pPr>
            <a:r>
              <a:rPr lang="en-US" sz="2000" b="1" dirty="0">
                <a:ea typeface="+mn-lt"/>
                <a:cs typeface="+mn-lt"/>
              </a:rPr>
              <a:t>Statistical Analysis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Wilcoxon signed-rank tests were used to compare model performance across validation folds.</a:t>
            </a:r>
            <a:endParaRPr lang="en-US" dirty="0"/>
          </a:p>
          <a:p>
            <a:pPr>
              <a:buNone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89802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B1D66-0801-0323-A369-612F39556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559" y="1006116"/>
            <a:ext cx="10616241" cy="5170847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buNone/>
            </a:pPr>
            <a:r>
              <a:rPr lang="en-US" b="1" dirty="0">
                <a:ea typeface="+mn-lt"/>
                <a:cs typeface="+mn-lt"/>
              </a:rPr>
              <a:t>4. Methodology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Dataset description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Preprocessing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ML models</a:t>
            </a: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Evaluation methodology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SHAP and LIME framework</a:t>
            </a:r>
            <a:endParaRPr lang="en-US" dirty="0"/>
          </a:p>
          <a:p>
            <a:pPr indent="0">
              <a:buNone/>
            </a:pPr>
            <a:r>
              <a:rPr lang="en-US" b="1" dirty="0">
                <a:ea typeface="+mn-lt"/>
                <a:cs typeface="+mn-lt"/>
              </a:rPr>
              <a:t>5. Results &amp; Discussion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Model performance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Feature importance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SHAP and LIME explanations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Cross-domain comparison</a:t>
            </a:r>
            <a:endParaRPr lang="en-US" dirty="0"/>
          </a:p>
          <a:p>
            <a:pPr indent="0">
              <a:buNone/>
            </a:pPr>
            <a:r>
              <a:rPr lang="en-US" b="1" dirty="0">
                <a:ea typeface="+mn-lt"/>
                <a:cs typeface="+mn-lt"/>
              </a:rPr>
              <a:t>6. Dashboard &amp; Clinical Application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Streamlit</a:t>
            </a:r>
            <a:r>
              <a:rPr lang="en-US" dirty="0">
                <a:ea typeface="+mn-lt"/>
                <a:cs typeface="+mn-lt"/>
              </a:rPr>
              <a:t> implementation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Patient prediction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Explainable visualization</a:t>
            </a:r>
            <a:endParaRPr lang="en-US" dirty="0"/>
          </a:p>
          <a:p>
            <a:pPr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10397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6C8A0-6504-D5A8-E647-6D3360793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Conclusion &amp; Future Work</a:t>
            </a: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Major findings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Limitations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Larger multicenter datasets</a:t>
            </a: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Causal and prospective clinical validation</a:t>
            </a:r>
            <a:endParaRPr lang="en-US" dirty="0"/>
          </a:p>
          <a:p>
            <a:pPr>
              <a:buFont typeface="Arial"/>
              <a:buChar char="•"/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585E73C-D421-7F1F-A403-33094D348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050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MedExplain – Explainable Machine Learning Framework for Clinical Diagnosis Prediction                                                                      Saraf Abhinav – 2420090058                                                                             Jai Vardhan – 2420090104                                                                             Srimaan – 2420030418                                                                             Ananya - 2420030776      </vt:lpstr>
      <vt:lpstr>Methodology</vt:lpstr>
      <vt:lpstr>System Design</vt:lpstr>
      <vt:lpstr>PowerPoint Presentation</vt:lpstr>
      <vt:lpstr>Modern Tools and Technologies</vt:lpstr>
      <vt:lpstr>Implementation</vt:lpstr>
      <vt:lpstr>PowerPoint Presentation</vt:lpstr>
      <vt:lpstr>Results</vt:lpstr>
      <vt:lpstr>PowerPoint Presentation</vt:lpstr>
      <vt:lpstr>PowerPoint Presentation</vt:lpstr>
      <vt:lpstr>Performance Evaluation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156</cp:revision>
  <dcterms:created xsi:type="dcterms:W3CDTF">2026-09-19T05:19:32Z</dcterms:created>
  <dcterms:modified xsi:type="dcterms:W3CDTF">2026-09-19T05:53:47Z</dcterms:modified>
</cp:coreProperties>
</file>